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Insurance Policy Voice Agent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Voice-enabled AI assistant for insurance policy queries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 – Insurance Policy Confusion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Customers struggle to understand complex policy documents</a:t>
            </a:r>
          </a:p>
          <a:p>
            <a:pPr>
              <a:defRPr sz="2400"/>
            </a:pPr>
            <a:r>
              <a:t>Traditional support is slow and frustrating</a:t>
            </a:r>
          </a:p>
          <a:p>
            <a:pPr>
              <a:defRPr sz="2400"/>
            </a:pPr>
            <a:r>
              <a:t>Policy details are buried in lengthy PDFs</a:t>
            </a:r>
          </a:p>
          <a:p>
            <a:pPr>
              <a:defRPr sz="2400"/>
            </a:pPr>
            <a:r>
              <a:t>High risk of misinterpretation and missed benefits</a:t>
            </a:r>
          </a:p>
          <a:p>
            <a:pPr>
              <a:defRPr sz="2400"/>
            </a:pPr>
            <a:r>
              <a:t>Need for instant, reliable answers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Existing Chatbots Fail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Prone to hallucinations and wrong answers</a:t>
            </a:r>
          </a:p>
          <a:p>
            <a:pPr>
              <a:defRPr sz="2400"/>
            </a:pPr>
            <a:r>
              <a:t>Generic responses, not policy-specific</a:t>
            </a:r>
          </a:p>
          <a:p>
            <a:pPr>
              <a:defRPr sz="2400"/>
            </a:pPr>
            <a:r>
              <a:t>Poor handling of voice input/output</a:t>
            </a:r>
          </a:p>
          <a:p>
            <a:pPr>
              <a:defRPr sz="2400"/>
            </a:pPr>
            <a:r>
              <a:t>Lack of document grounding</a:t>
            </a:r>
          </a:p>
          <a:p>
            <a:pPr>
              <a:defRPr sz="2400"/>
            </a:pPr>
            <a:r>
              <a:t>Low user trust in critical insurance scenarios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Overview – Voice-Enabled RAG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AI agent answers policy questions using real documents</a:t>
            </a:r>
          </a:p>
          <a:p>
            <a:pPr>
              <a:defRPr sz="2400"/>
            </a:pPr>
            <a:r>
              <a:t>Voice input and output for natural interaction</a:t>
            </a:r>
          </a:p>
          <a:p>
            <a:pPr>
              <a:defRPr sz="2400"/>
            </a:pPr>
            <a:r>
              <a:t>Retrieval-Augmented Generation (RAG) ensures accuracy</a:t>
            </a:r>
          </a:p>
          <a:p>
            <a:pPr>
              <a:defRPr sz="2400"/>
            </a:pPr>
            <a:r>
              <a:t>No hallucinations – answers only from indexed policies</a:t>
            </a:r>
          </a:p>
          <a:p>
            <a:pPr>
              <a:defRPr sz="2400"/>
            </a:pPr>
            <a:r>
              <a:t>FastAPI backend, browser-based frontend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High-Level Architecture</a:t>
            </a:r>
          </a:p>
        </p:txBody>
      </p:sp>
      <p:pic>
        <p:nvPicPr>
          <p:cNvPr id="3" name="Picture 2" descr="RAGOrchestrator Agent Tool-architr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6400800" cy="293580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[Diagram] High-Level Architecture</a:t>
            </a:r>
          </a:p>
        </p:txBody>
      </p:sp>
      <p:pic>
        <p:nvPicPr>
          <p:cNvPr id="3" name="Picture 2" descr="RAGOrchestrator Agent Tool-architr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6400800" cy="293580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Detailed RAG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User query received (text or voice)</a:t>
            </a:r>
          </a:p>
          <a:p>
            <a:pPr>
              <a:defRPr sz="2400"/>
            </a:pPr>
            <a:r>
              <a:t>Query embedded using Gemini/AI model</a:t>
            </a:r>
          </a:p>
          <a:p>
            <a:pPr>
              <a:defRPr sz="2400"/>
            </a:pPr>
            <a:r>
              <a:t>FAISS vector search retrieves relevant policy chunks</a:t>
            </a:r>
          </a:p>
          <a:p>
            <a:pPr>
              <a:defRPr sz="2400"/>
            </a:pPr>
            <a:r>
              <a:t>Context passed to LLM for grounded answer</a:t>
            </a:r>
          </a:p>
          <a:p>
            <a:pPr>
              <a:defRPr sz="2400"/>
            </a:pPr>
            <a:r>
              <a:t>Only document-backed responses returned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[Diagram] System Flow Diagram</a:t>
            </a:r>
          </a:p>
        </p:txBody>
      </p:sp>
      <p:pic>
        <p:nvPicPr>
          <p:cNvPr id="3" name="Picture 2" descr="RAGOrchestrator Agent Tool-flow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6400800" cy="1352103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Voice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User speaks into browser mic</a:t>
            </a:r>
          </a:p>
          <a:p>
            <a:pPr>
              <a:defRPr sz="2400"/>
            </a:pPr>
            <a:r>
              <a:t>Speech-to-Text (STT) converts to text</a:t>
            </a:r>
          </a:p>
          <a:p>
            <a:pPr>
              <a:defRPr sz="2400"/>
            </a:pPr>
            <a:r>
              <a:t>Text sent to backend RAG pipeline</a:t>
            </a:r>
          </a:p>
          <a:p>
            <a:pPr>
              <a:defRPr sz="2400"/>
            </a:pPr>
            <a:r>
              <a:t>Answer generated and sent back</a:t>
            </a:r>
          </a:p>
          <a:p>
            <a:pPr>
              <a:defRPr sz="2400"/>
            </a:pPr>
            <a:r>
              <a:t>Text-to-Speech (TTS) reads answer aloud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No-Hallucination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Strict grounding: answers only from indexed documents</a:t>
            </a:r>
          </a:p>
          <a:p>
            <a:pPr>
              <a:defRPr sz="2400"/>
            </a:pPr>
            <a:r>
              <a:t>RAG pipeline enforces document context</a:t>
            </a:r>
          </a:p>
          <a:p>
            <a:pPr>
              <a:defRPr sz="2400"/>
            </a:pPr>
            <a:r>
              <a:t>No open-ended LLM responses</a:t>
            </a:r>
          </a:p>
          <a:p>
            <a:pPr>
              <a:defRPr sz="2400"/>
            </a:pPr>
            <a:r>
              <a:t>Policy snippets shown as evidence</a:t>
            </a:r>
          </a:p>
          <a:p>
            <a:pPr>
              <a:defRPr sz="2400"/>
            </a:pPr>
            <a:r>
              <a:t>User trust through transparency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 Stack: Why These Choices?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FastAPI: High-performance, async Python web framework.</a:t>
            </a:r>
          </a:p>
          <a:p>
            <a:r>
              <a:t>  - Technical: Enables fast, scalable APIs for real-time RAG and voice.</a:t>
            </a:r>
          </a:p>
          <a:p>
            <a:r>
              <a:t>  - Business: Reduces latency, improves user experience.</a:t>
            </a:r>
          </a:p>
          <a:p/>
          <a:p/>
          <a:p>
            <a:r>
              <a:t>• FAISS: Facebook AI Similarity Search.</a:t>
            </a:r>
            <a:br/>
            <a:r>
              <a:t>  - Technical: Efficient vector search for large policy docs.</a:t>
            </a:r>
            <a:br/>
            <a:r>
              <a:t>  - Business: Enables instant, accurate retrieval, scales to enterprise data.</a:t>
            </a:r>
            <a:br/>
            <a:br/>
          </a:p>
          <a:p>
            <a:r>
              <a:t>• Google ADK &amp; Gemini: Advanced LLM and agent orchestration.</a:t>
            </a:r>
            <a:br/>
            <a:r>
              <a:t>  - Technical: State-of-the-art language understanding and agent routing.</a:t>
            </a:r>
            <a:br/>
            <a:r>
              <a:t>  - Business: Reduces hallucination, increases trust, future-proofs solution.</a:t>
            </a:r>
            <a:br/>
            <a:br/>
          </a:p>
          <a:p>
            <a:r>
              <a:t>• python-pptx: Automated PPT generation.</a:t>
            </a:r>
            <a:br/>
            <a:r>
              <a:t>  - Technical: Enables hackathon-speed, repeatable slide creation.</a:t>
            </a:r>
            <a:br/>
            <a:r>
              <a:t>  - Business: Saves time, ensures consistency for demos.</a:t>
            </a:r>
            <a:br/>
            <a:br/>
          </a:p>
          <a:p>
            <a:r>
              <a:t>• Web Speech API: Browser-based STT/TTS.</a:t>
            </a:r>
            <a:br/>
            <a:r>
              <a:t>  - Technical: Seamless voice input/output in any browser.</a:t>
            </a:r>
            <a:br/>
            <a:r>
              <a:t>  - Business: No install, accessible to all users.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Demo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Judge asks a real policy question via mic</a:t>
            </a:r>
          </a:p>
          <a:p>
            <a:pPr>
              <a:defRPr sz="2400"/>
            </a:pPr>
            <a:r>
              <a:t>System transcribes, searches, and answers instantly</a:t>
            </a:r>
          </a:p>
          <a:p>
            <a:pPr>
              <a:defRPr sz="2400"/>
            </a:pPr>
            <a:r>
              <a:t>Policy snippet shown as source</a:t>
            </a:r>
          </a:p>
          <a:p>
            <a:pPr>
              <a:defRPr sz="2400"/>
            </a:pPr>
            <a:r>
              <a:t>Voice output reads answer</a:t>
            </a:r>
          </a:p>
          <a:p>
            <a:pPr>
              <a:defRPr sz="2400"/>
            </a:pPr>
            <a:r>
              <a:t>End-to-end, judge-friendly experience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Scalability &amp; Enterprise Readiness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Modular microservices architecture</a:t>
            </a:r>
          </a:p>
          <a:p>
            <a:pPr>
              <a:defRPr sz="2400"/>
            </a:pPr>
            <a:r>
              <a:t>Easy to add new policy documents</a:t>
            </a:r>
          </a:p>
          <a:p>
            <a:pPr>
              <a:defRPr sz="2400"/>
            </a:pPr>
            <a:r>
              <a:t>Scalable vector search (FAISS)</a:t>
            </a:r>
          </a:p>
          <a:p>
            <a:pPr>
              <a:defRPr sz="2400"/>
            </a:pPr>
            <a:r>
              <a:t>Secure, compliant data handling</a:t>
            </a:r>
          </a:p>
          <a:p>
            <a:pPr>
              <a:defRPr sz="2400"/>
            </a:pPr>
            <a:r>
              <a:t>Ready for cloud or on-prem deployment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Multilingual voice support</a:t>
            </a:r>
          </a:p>
          <a:p>
            <a:pPr>
              <a:defRPr sz="2400"/>
            </a:pPr>
            <a:r>
              <a:t>Integration with live insurance systems</a:t>
            </a:r>
          </a:p>
          <a:p>
            <a:pPr>
              <a:defRPr sz="2400"/>
            </a:pPr>
            <a:r>
              <a:t>Advanced analytics and reporting</a:t>
            </a:r>
          </a:p>
          <a:p>
            <a:pPr>
              <a:defRPr sz="2400"/>
            </a:pPr>
            <a:r>
              <a:t>Mobile app version</a:t>
            </a:r>
          </a:p>
          <a:p>
            <a:pPr>
              <a:defRPr sz="2400"/>
            </a:pPr>
            <a:r>
              <a:t>Continuous LLM improvement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Hackathon Impact &amp; Closing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/>
            </a:pPr>
            <a:r>
              <a:t>Solves real customer pain point</a:t>
            </a:r>
          </a:p>
          <a:p>
            <a:pPr>
              <a:defRPr sz="2400"/>
            </a:pPr>
            <a:r>
              <a:t>Demonstrates safe, grounded AI</a:t>
            </a:r>
          </a:p>
          <a:p>
            <a:pPr>
              <a:defRPr sz="2400"/>
            </a:pPr>
            <a:r>
              <a:t>Voice-first, accessible for all users</a:t>
            </a:r>
          </a:p>
          <a:p>
            <a:pPr>
              <a:defRPr sz="2400"/>
            </a:pPr>
            <a:r>
              <a:t>Ready for enterprise adoption</a:t>
            </a:r>
          </a:p>
          <a:p>
            <a:pPr>
              <a:defRPr sz="2400"/>
            </a:pPr>
            <a:r>
              <a:t>Thank you! Questions?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Value &amp;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Reduces customer confusion and support costs</a:t>
            </a:r>
          </a:p>
          <a:p>
            <a:r>
              <a:t>• Increases policyholder satisfaction and trust</a:t>
            </a:r>
          </a:p>
          <a:p>
            <a:r>
              <a:t>• Scalable to any insurance product or region</a:t>
            </a:r>
          </a:p>
          <a:p>
            <a:r>
              <a:t>• Voice-first: accessible to all, including non-technical users</a:t>
            </a:r>
          </a:p>
          <a:p>
            <a:r>
              <a:t>• Ready for enterprise deployment and future enhancements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