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Insurance Policy Voice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Voice-enabled AI assistant for insurance policy queries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– Insurance Policy Confusion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Customers struggle to understand complex policy documents</a:t>
            </a:r>
          </a:p>
          <a:p>
            <a:pPr>
              <a:defRPr sz="2400"/>
            </a:pPr>
            <a:r>
              <a:t>Traditional support is slow and frustrating</a:t>
            </a:r>
          </a:p>
          <a:p>
            <a:pPr>
              <a:defRPr sz="2400"/>
            </a:pPr>
            <a:r>
              <a:t>Policy details are buried in lengthy PDFs</a:t>
            </a:r>
          </a:p>
          <a:p>
            <a:pPr>
              <a:defRPr sz="2400"/>
            </a:pPr>
            <a:r>
              <a:t>High risk of misinterpretation and missed benefits</a:t>
            </a:r>
          </a:p>
          <a:p>
            <a:pPr>
              <a:defRPr sz="2400"/>
            </a:pPr>
            <a:r>
              <a:t>Need for instant, reliable answers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Existing Chatbots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Prone to hallucinations and wrong answers</a:t>
            </a:r>
          </a:p>
          <a:p>
            <a:pPr>
              <a:defRPr sz="2400"/>
            </a:pPr>
            <a:r>
              <a:t>Generic responses, not policy-specific</a:t>
            </a:r>
          </a:p>
          <a:p>
            <a:pPr>
              <a:defRPr sz="2400"/>
            </a:pPr>
            <a:r>
              <a:t>Poor handling of voice input/output</a:t>
            </a:r>
          </a:p>
          <a:p>
            <a:pPr>
              <a:defRPr sz="2400"/>
            </a:pPr>
            <a:r>
              <a:t>Lack of document grounding</a:t>
            </a:r>
          </a:p>
          <a:p>
            <a:pPr>
              <a:defRPr sz="2400"/>
            </a:pPr>
            <a:r>
              <a:t>Low user trust in critical insurance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 – Voice-Enabled RAG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AI agent answers policy questions using real documents</a:t>
            </a:r>
          </a:p>
          <a:p>
            <a:pPr>
              <a:defRPr sz="2400"/>
            </a:pPr>
            <a:r>
              <a:t>Voice input and output for natural interaction</a:t>
            </a:r>
          </a:p>
          <a:p>
            <a:pPr>
              <a:defRPr sz="2400"/>
            </a:pPr>
            <a:r>
              <a:t>Retrieval-Augmented Generation (RAG) ensures accuracy</a:t>
            </a:r>
          </a:p>
          <a:p>
            <a:pPr>
              <a:defRPr sz="2400"/>
            </a:pPr>
            <a:r>
              <a:t>No hallucinations – answers only from indexed policies</a:t>
            </a:r>
          </a:p>
          <a:p>
            <a:pPr>
              <a:defRPr sz="2400"/>
            </a:pPr>
            <a:r>
              <a:t>FastAPI backend, browser-based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Frontend: Browser UI with Speech-to-Text &amp; Text-to-Speech</a:t>
            </a:r>
          </a:p>
          <a:p>
            <a:pPr>
              <a:defRPr sz="2400"/>
            </a:pPr>
            <a:r>
              <a:t>Backend: FastAPI orchestrates RAG and voice flows</a:t>
            </a:r>
          </a:p>
          <a:p>
            <a:pPr>
              <a:defRPr sz="2400"/>
            </a:pPr>
            <a:r>
              <a:t>AI: Google ADK Agents + Gemini LLMs</a:t>
            </a:r>
          </a:p>
          <a:p>
            <a:pPr>
              <a:defRPr sz="2400"/>
            </a:pPr>
            <a:r>
              <a:t>Vector DB: FAISS for fast, semantic document search</a:t>
            </a:r>
          </a:p>
          <a:p>
            <a:pPr>
              <a:defRPr sz="2400"/>
            </a:pPr>
            <a:r>
              <a:t>Modular, scalable, and cloud-ready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[Diagram] 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200"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Entry Point                                            │</a:t>
            </a:r>
            <a:br/>
            <a:r>
              <a:t>│              RAGOrchestrator (Root Agent)                                 │</a:t>
            </a:r>
            <a:br/>
            <a:r>
              <a:t>│         - Intelligent Request Routing                                     │</a:t>
            </a:r>
            <a:br/>
            <a:r>
              <a:t>│         - Text Mode (_run_async_impl)                                     │</a:t>
            </a:r>
            <a:br/>
            <a:r>
              <a:t>│         - Voice Mode (_run_live_impl)                                     │</a:t>
            </a:r>
            <a:br/>
            <a:r>
              <a:t>└───────────────┬────────────────────────────────────────────────────────────┘</a:t>
            </a:r>
            <a:br/>
            <a:r>
              <a:t>                │</a:t>
            </a:r>
            <a:br/>
            <a:r>
              <a:t>    ┌───────────┼────────────┬────────────┐</a:t>
            </a:r>
            <a:br/>
            <a:r>
              <a:t>    │           │            │            │</a:t>
            </a:r>
            <a:br/>
            <a:r>
              <a:t>    v           v            v</a:t>
            </a:r>
            <a:br/>
            <a:r>
              <a:t>┌──────────┐ ┌───────────┐ ┌────────────┐</a:t>
            </a:r>
            <a:br/>
            <a:r>
              <a:t>│  Policy  │ │  Search   │ │   Voice    │</a:t>
            </a:r>
            <a:br/>
            <a:r>
              <a:t>│ Manager  │ │ Assistant │ │ Assistant  │</a:t>
            </a:r>
            <a:br/>
            <a:r>
              <a:t>│  Agent   │ │  Agent    │ │   Agent    │</a:t>
            </a:r>
            <a:br/>
            <a:r>
              <a:t>└─────┬────┘ └─────┬─────┘ └─────┬──────┘</a:t>
            </a:r>
            <a:br/>
            <a:r>
              <a:t>      v           v              v</a:t>
            </a:r>
            <a:br/>
            <a:r>
              <a:t>┌──────────┐ ┌───────────┐ ┌────────────┐</a:t>
            </a:r>
            <a:br/>
            <a:r>
              <a:t>│ Policy   │ │  Search   │ │   Voice    │</a:t>
            </a:r>
            <a:br/>
            <a:r>
              <a:t>│  Tools   │ │  Tools    │ │   Tools    │</a:t>
            </a:r>
            <a:br/>
            <a:r>
              <a:t>└──────────┘ └───────────┘ └────────────┘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RAG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User query received (text or voice)</a:t>
            </a:r>
          </a:p>
          <a:p>
            <a:pPr>
              <a:defRPr sz="2400"/>
            </a:pPr>
            <a:r>
              <a:t>Query embedded using Gemini/AI model</a:t>
            </a:r>
          </a:p>
          <a:p>
            <a:pPr>
              <a:defRPr sz="2400"/>
            </a:pPr>
            <a:r>
              <a:t>FAISS vector search retrieves relevant policy chunks</a:t>
            </a:r>
          </a:p>
          <a:p>
            <a:pPr>
              <a:defRPr sz="2400"/>
            </a:pPr>
            <a:r>
              <a:t>Context passed to LLM for grounded answer</a:t>
            </a:r>
          </a:p>
          <a:p>
            <a:pPr>
              <a:defRPr sz="2400"/>
            </a:pPr>
            <a:r>
              <a:t>Only document-backed responses returned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[Diagram] System Flow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1200">
                <a:latin typeface="Courier New"/>
              </a:defRPr>
            </a:pPr>
            <a:r>
              <a:t>┌────────────────────┐</a:t>
            </a:r>
            <a:br/>
            <a:r>
              <a:t>│   User Input       │</a:t>
            </a:r>
            <a:br/>
            <a:r>
              <a:t>│  (Text or Voice)   │</a:t>
            </a:r>
            <a:br/>
            <a:r>
              <a:t>└─────────┬──────────┘</a:t>
            </a:r>
            <a:br/>
            <a:r>
              <a:t>          v</a:t>
            </a:r>
            <a:br/>
            <a:r>
              <a:t>┌──────────────────────────────────────────────┐</a:t>
            </a:r>
            <a:br/>
            <a:r>
              <a:t>│         RAG Orchestrator                     │</a:t>
            </a:r>
            <a:br/>
            <a:r>
              <a:t>│  1. Extract text from context                │</a:t>
            </a:r>
            <a:br/>
            <a:r>
              <a:t>│  2. Determine route via keywords             │</a:t>
            </a:r>
            <a:br/>
            <a:r>
              <a:t>└─────────┬────────────────────────────────────┘</a:t>
            </a:r>
            <a:br/>
            <a:r>
              <a:t>          v</a:t>
            </a:r>
            <a:br/>
            <a:r>
              <a:t>    ┌────────────┐</a:t>
            </a:r>
            <a:br/>
            <a:r>
              <a:t>    │  Routing   │</a:t>
            </a:r>
            <a:br/>
            <a:r>
              <a:t>    │   Logic    │</a:t>
            </a:r>
            <a:br/>
            <a:r>
              <a:t>    └────┬───────┘</a:t>
            </a:r>
            <a:br/>
            <a:r>
              <a:t>         v</a:t>
            </a:r>
            <a:br/>
            <a:r>
              <a:t>  Keywords found?</a:t>
            </a:r>
            <a:br/>
            <a:r>
              <a:t>     │</a:t>
            </a:r>
            <a:br/>
            <a:r>
              <a:t> ┌───┴───┐</a:t>
            </a:r>
            <a:br/>
            <a:r>
              <a:t> │       │</a:t>
            </a:r>
            <a:br/>
            <a:r>
              <a:t> v       v</a:t>
            </a:r>
            <a:br/>
            <a:r>
              <a:t>Yes     No</a:t>
            </a:r>
            <a:br/>
            <a:r>
              <a:t> │       │</a:t>
            </a:r>
            <a:br/>
            <a:r>
              <a:t> v       v</a:t>
            </a:r>
            <a:br/>
            <a:r>
              <a:t>┌────────────┐   ┌───────────────┐</a:t>
            </a:r>
            <a:br/>
            <a:r>
              <a:t>│  Policy    │   │   Search      │</a:t>
            </a:r>
            <a:br/>
            <a:r>
              <a:t>│  Manager   │   │   Assistant   │</a:t>
            </a:r>
            <a:br/>
            <a:r>
              <a:t>│  Agent     │   │   Agent       │</a:t>
            </a:r>
            <a:br/>
            <a:r>
              <a:t>└────┬───────┘   └─────┬─────────┘</a:t>
            </a:r>
            <a:br/>
            <a:r>
              <a:t>     v                 v</a:t>
            </a:r>
            <a:br/>
            <a:r>
              <a:t>┌────────────┐   ┌───────────────┐</a:t>
            </a:r>
            <a:br/>
            <a:r>
              <a:t>│ List Files │   │  Search       │</a:t>
            </a:r>
            <a:br/>
            <a:r>
              <a:t>│   Tool     │   │  Documents    │</a:t>
            </a:r>
            <a:br/>
            <a:r>
              <a:t>└────┬───────┘   └─────┬─────────┘</a:t>
            </a:r>
            <a:br/>
            <a:r>
              <a:t>     v                 v</a:t>
            </a:r>
            <a:br/>
            <a:r>
              <a:t>┌────────────┐   ┌───────────────┐</a:t>
            </a:r>
            <a:br/>
            <a:r>
              <a:t>│  Return    │   │  Return       │</a:t>
            </a:r>
            <a:br/>
            <a:r>
              <a:t>│  Policy    │   │  Answer from  │</a:t>
            </a:r>
            <a:br/>
            <a:r>
              <a:t>│  List      │   │  Indexed Docs │</a:t>
            </a:r>
            <a:br/>
            <a:r>
              <a:t>└────┬───────┘   └─────┬─────────┘</a:t>
            </a:r>
            <a:br/>
            <a:r>
              <a:t>     v                 v</a:t>
            </a:r>
            <a:br/>
            <a:r>
              <a:t>        ┌───────────────┐</a:t>
            </a:r>
            <a:br/>
            <a:r>
              <a:t>        │ Response to   │</a:t>
            </a:r>
            <a:br/>
            <a:r>
              <a:t>        │ User          │</a:t>
            </a:r>
            <a:br/>
            <a:r>
              <a:t>        └───────────────┘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Voice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User speaks into browser mic</a:t>
            </a:r>
          </a:p>
          <a:p>
            <a:pPr>
              <a:defRPr sz="2400"/>
            </a:pPr>
            <a:r>
              <a:t>Speech-to-Text (STT) converts to text</a:t>
            </a:r>
          </a:p>
          <a:p>
            <a:pPr>
              <a:defRPr sz="2400"/>
            </a:pPr>
            <a:r>
              <a:t>Text sent to backend RAG pipeline</a:t>
            </a:r>
          </a:p>
          <a:p>
            <a:pPr>
              <a:defRPr sz="2400"/>
            </a:pPr>
            <a:r>
              <a:t>Answer generated and sent back</a:t>
            </a:r>
          </a:p>
          <a:p>
            <a:pPr>
              <a:defRPr sz="2400"/>
            </a:pPr>
            <a:r>
              <a:t>Text-to-Speech (TTS) reads answer aloud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No-Hallucination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Strict grounding: answers only from indexed documents</a:t>
            </a:r>
          </a:p>
          <a:p>
            <a:pPr>
              <a:defRPr sz="2400"/>
            </a:pPr>
            <a:r>
              <a:t>RAG pipeline enforces document context</a:t>
            </a:r>
          </a:p>
          <a:p>
            <a:pPr>
              <a:defRPr sz="2400"/>
            </a:pPr>
            <a:r>
              <a:t>No open-ended LLM responses</a:t>
            </a:r>
          </a:p>
          <a:p>
            <a:pPr>
              <a:defRPr sz="2400"/>
            </a:pPr>
            <a:r>
              <a:t>Policy snippets shown as evidence</a:t>
            </a:r>
          </a:p>
          <a:p>
            <a:pPr>
              <a:defRPr sz="2400"/>
            </a:pPr>
            <a:r>
              <a:t>User trust through transparency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Frontend: HTML, JS, Web Speech API</a:t>
            </a:r>
          </a:p>
          <a:p>
            <a:pPr>
              <a:defRPr sz="2400"/>
            </a:pPr>
            <a:r>
              <a:t>Backend: FastAPI (Python), Flask (optional)</a:t>
            </a:r>
          </a:p>
          <a:p>
            <a:pPr>
              <a:defRPr sz="2400"/>
            </a:pPr>
            <a:r>
              <a:t>AI: Google ADK, Gemini models</a:t>
            </a:r>
          </a:p>
          <a:p>
            <a:pPr>
              <a:defRPr sz="2400"/>
            </a:pPr>
            <a:r>
              <a:t>Vector DB: FAISS</a:t>
            </a:r>
          </a:p>
          <a:p>
            <a:pPr>
              <a:defRPr sz="2400"/>
            </a:pPr>
            <a:r>
              <a:t>Infra: Local or cloud deployable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Judge asks a real policy question via mic</a:t>
            </a:r>
          </a:p>
          <a:p>
            <a:pPr>
              <a:defRPr sz="2400"/>
            </a:pPr>
            <a:r>
              <a:t>System transcribes, searches, and answers instantly</a:t>
            </a:r>
          </a:p>
          <a:p>
            <a:pPr>
              <a:defRPr sz="2400"/>
            </a:pPr>
            <a:r>
              <a:t>Policy snippet shown as source</a:t>
            </a:r>
          </a:p>
          <a:p>
            <a:pPr>
              <a:defRPr sz="2400"/>
            </a:pPr>
            <a:r>
              <a:t>Voice output reads answer</a:t>
            </a:r>
          </a:p>
          <a:p>
            <a:pPr>
              <a:defRPr sz="2400"/>
            </a:pPr>
            <a:r>
              <a:t>End-to-end, judge-friendly experience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Scalability &amp; Enterprise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Modular microservices architecture</a:t>
            </a:r>
          </a:p>
          <a:p>
            <a:pPr>
              <a:defRPr sz="2400"/>
            </a:pPr>
            <a:r>
              <a:t>Easy to add new policy documents</a:t>
            </a:r>
          </a:p>
          <a:p>
            <a:pPr>
              <a:defRPr sz="2400"/>
            </a:pPr>
            <a:r>
              <a:t>Scalable vector search (FAISS)</a:t>
            </a:r>
          </a:p>
          <a:p>
            <a:pPr>
              <a:defRPr sz="2400"/>
            </a:pPr>
            <a:r>
              <a:t>Secure, compliant data handling</a:t>
            </a:r>
          </a:p>
          <a:p>
            <a:pPr>
              <a:defRPr sz="2400"/>
            </a:pPr>
            <a:r>
              <a:t>Ready for cloud or on-prem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Multilingual voice support</a:t>
            </a:r>
          </a:p>
          <a:p>
            <a:pPr>
              <a:defRPr sz="2400"/>
            </a:pPr>
            <a:r>
              <a:t>Integration with live insurance systems</a:t>
            </a:r>
          </a:p>
          <a:p>
            <a:pPr>
              <a:defRPr sz="2400"/>
            </a:pPr>
            <a:r>
              <a:t>Advanced analytics and reporting</a:t>
            </a:r>
          </a:p>
          <a:p>
            <a:pPr>
              <a:defRPr sz="2400"/>
            </a:pPr>
            <a:r>
              <a:t>Mobile app version</a:t>
            </a:r>
          </a:p>
          <a:p>
            <a:pPr>
              <a:defRPr sz="2400"/>
            </a:pPr>
            <a:r>
              <a:t>Continuous LLM improvement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Hackathon Impact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Solves real customer pain point</a:t>
            </a:r>
          </a:p>
          <a:p>
            <a:pPr>
              <a:defRPr sz="2400"/>
            </a:pPr>
            <a:r>
              <a:t>Demonstrates safe, grounded AI</a:t>
            </a:r>
          </a:p>
          <a:p>
            <a:pPr>
              <a:defRPr sz="2400"/>
            </a:pPr>
            <a:r>
              <a:t>Voice-first, accessible for all users</a:t>
            </a:r>
          </a:p>
          <a:p>
            <a:pPr>
              <a:defRPr sz="2400"/>
            </a:pPr>
            <a:r>
              <a:t>Ready for enterprise adoption</a:t>
            </a:r>
          </a:p>
          <a:p>
            <a:pPr>
              <a:defRPr sz="2400"/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